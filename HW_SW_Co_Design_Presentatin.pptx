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Aileron" panose="020B0604020202020204" charset="0"/>
      <p:regular r:id="rId31"/>
    </p:embeddedFont>
    <p:embeddedFont>
      <p:font typeface="Aileron Bold" panose="020B0604020202020204" charset="0"/>
      <p:regular r:id="rId32"/>
    </p:embeddedFont>
    <p:embeddedFont>
      <p:font typeface="DM Sans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4800" y="-559500"/>
            <a:ext cx="10745363" cy="7145667"/>
          </a:xfrm>
          <a:custGeom>
            <a:avLst/>
            <a:gdLst/>
            <a:ahLst/>
            <a:cxnLst/>
            <a:rect l="l" t="t" r="r" b="b"/>
            <a:pathLst>
              <a:path w="10745363" h="7145667">
                <a:moveTo>
                  <a:pt x="0" y="0"/>
                </a:moveTo>
                <a:lnTo>
                  <a:pt x="10745363" y="0"/>
                </a:lnTo>
                <a:lnTo>
                  <a:pt x="10745363" y="7145667"/>
                </a:lnTo>
                <a:lnTo>
                  <a:pt x="0" y="7145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>
            <a:softEdge rad="635000"/>
          </a:effectLst>
        </p:spPr>
      </p:sp>
      <p:sp>
        <p:nvSpPr>
          <p:cNvPr id="4" name="TextBox 4"/>
          <p:cNvSpPr txBox="1"/>
          <p:nvPr/>
        </p:nvSpPr>
        <p:spPr>
          <a:xfrm>
            <a:off x="1028700" y="4407994"/>
            <a:ext cx="13303790" cy="4455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66"/>
              </a:lnSpc>
            </a:pPr>
            <a:r>
              <a:rPr lang="en-US" sz="17166" b="1" spc="-635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HW SW Co-Design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557963"/>
            <a:ext cx="5689197" cy="61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5"/>
              </a:lnSpc>
            </a:pPr>
            <a:r>
              <a:rPr lang="en-US" sz="4595" spc="-170">
                <a:solidFill>
                  <a:srgbClr val="D9D9D9">
                    <a:alpha val="69804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Projuct Presentation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797442"/>
            <a:ext cx="349002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Presented by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241596"/>
            <a:ext cx="3490028" cy="78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Tal Schneider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75517" y="9241596"/>
            <a:ext cx="1243211" cy="3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Almog 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08202" y="4880004"/>
            <a:ext cx="1278267" cy="127826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D9D9D9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834469"/>
            <a:ext cx="6056426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Chosen Benchmarks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31562" y="4759033"/>
            <a:ext cx="697263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nbody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1562" y="5469062"/>
            <a:ext cx="6972634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Computer problem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N-body gravity simulation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5.4M float operations per call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Data fits fully in L1 cache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802310" y="4825708"/>
            <a:ext cx="1278267" cy="12782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D9D9D9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425670" y="4704736"/>
            <a:ext cx="697263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pyflate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5670" y="5414765"/>
            <a:ext cx="6972634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Data-Movement Problem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Pure-Python bzip2 decode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127K page faults per run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35x higher cache miss 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00306" y="5964412"/>
            <a:ext cx="367263" cy="147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94877" y="5910115"/>
            <a:ext cx="367263" cy="147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846209"/>
            <a:ext cx="5051108" cy="3941456"/>
            <a:chOff x="0" y="0"/>
            <a:chExt cx="1330333" cy="10380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0333" cy="1038079"/>
            </a:xfrm>
            <a:custGeom>
              <a:avLst/>
              <a:gdLst/>
              <a:ahLst/>
              <a:cxnLst/>
              <a:rect l="l" t="t" r="r" b="b"/>
              <a:pathLst>
                <a:path w="1330333" h="1038079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959910"/>
                  </a:lnTo>
                  <a:cubicBezTo>
                    <a:pt x="1330333" y="1003082"/>
                    <a:pt x="1295336" y="1038079"/>
                    <a:pt x="1252164" y="1038079"/>
                  </a:cubicBezTo>
                  <a:lnTo>
                    <a:pt x="78169" y="1038079"/>
                  </a:lnTo>
                  <a:cubicBezTo>
                    <a:pt x="57437" y="1038079"/>
                    <a:pt x="37554" y="1029843"/>
                    <a:pt x="22895" y="1015184"/>
                  </a:cubicBezTo>
                  <a:cubicBezTo>
                    <a:pt x="8236" y="1000525"/>
                    <a:pt x="0" y="980642"/>
                    <a:pt x="0" y="959910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30333" cy="1085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1015" y="5566251"/>
            <a:ext cx="749348" cy="753114"/>
          </a:xfrm>
          <a:custGeom>
            <a:avLst/>
            <a:gdLst/>
            <a:ahLst/>
            <a:cxnLst/>
            <a:rect l="l" t="t" r="r" b="b"/>
            <a:pathLst>
              <a:path w="749348" h="753114">
                <a:moveTo>
                  <a:pt x="0" y="0"/>
                </a:moveTo>
                <a:lnTo>
                  <a:pt x="749348" y="0"/>
                </a:lnTo>
                <a:lnTo>
                  <a:pt x="749348" y="753114"/>
                </a:lnTo>
                <a:lnTo>
                  <a:pt x="0" y="753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18446" y="4846209"/>
            <a:ext cx="5051108" cy="3941456"/>
            <a:chOff x="0" y="0"/>
            <a:chExt cx="1330333" cy="10380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30333" cy="1038079"/>
            </a:xfrm>
            <a:custGeom>
              <a:avLst/>
              <a:gdLst/>
              <a:ahLst/>
              <a:cxnLst/>
              <a:rect l="l" t="t" r="r" b="b"/>
              <a:pathLst>
                <a:path w="1330333" h="1038079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959910"/>
                  </a:lnTo>
                  <a:cubicBezTo>
                    <a:pt x="1330333" y="1003082"/>
                    <a:pt x="1295336" y="1038079"/>
                    <a:pt x="1252164" y="1038079"/>
                  </a:cubicBezTo>
                  <a:lnTo>
                    <a:pt x="78169" y="1038079"/>
                  </a:lnTo>
                  <a:cubicBezTo>
                    <a:pt x="57437" y="1038079"/>
                    <a:pt x="37554" y="1029843"/>
                    <a:pt x="22895" y="1015184"/>
                  </a:cubicBezTo>
                  <a:cubicBezTo>
                    <a:pt x="8236" y="1000525"/>
                    <a:pt x="0" y="980642"/>
                    <a:pt x="0" y="959910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330333" cy="1085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08192" y="4846209"/>
            <a:ext cx="5051108" cy="3941456"/>
            <a:chOff x="0" y="0"/>
            <a:chExt cx="1330333" cy="103807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0333" cy="1038079"/>
            </a:xfrm>
            <a:custGeom>
              <a:avLst/>
              <a:gdLst/>
              <a:ahLst/>
              <a:cxnLst/>
              <a:rect l="l" t="t" r="r" b="b"/>
              <a:pathLst>
                <a:path w="1330333" h="1038079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959910"/>
                  </a:lnTo>
                  <a:cubicBezTo>
                    <a:pt x="1330333" y="1003082"/>
                    <a:pt x="1295336" y="1038079"/>
                    <a:pt x="1252164" y="1038079"/>
                  </a:cubicBezTo>
                  <a:lnTo>
                    <a:pt x="78169" y="1038079"/>
                  </a:lnTo>
                  <a:cubicBezTo>
                    <a:pt x="57437" y="1038079"/>
                    <a:pt x="37554" y="1029843"/>
                    <a:pt x="22895" y="1015184"/>
                  </a:cubicBezTo>
                  <a:cubicBezTo>
                    <a:pt x="8236" y="1000525"/>
                    <a:pt x="0" y="980642"/>
                    <a:pt x="0" y="959910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30333" cy="1085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2539693" y="5570017"/>
            <a:ext cx="749348" cy="749348"/>
          </a:xfrm>
          <a:custGeom>
            <a:avLst/>
            <a:gdLst/>
            <a:ahLst/>
            <a:cxnLst/>
            <a:rect l="l" t="t" r="r" b="b"/>
            <a:pathLst>
              <a:path w="749348" h="749348">
                <a:moveTo>
                  <a:pt x="0" y="0"/>
                </a:moveTo>
                <a:lnTo>
                  <a:pt x="749348" y="0"/>
                </a:lnTo>
                <a:lnTo>
                  <a:pt x="749348" y="749348"/>
                </a:lnTo>
                <a:lnTo>
                  <a:pt x="0" y="7493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960761" y="5570017"/>
            <a:ext cx="835861" cy="835861"/>
          </a:xfrm>
          <a:custGeom>
            <a:avLst/>
            <a:gdLst/>
            <a:ahLst/>
            <a:cxnLst/>
            <a:rect l="l" t="t" r="r" b="b"/>
            <a:pathLst>
              <a:path w="835861" h="835861">
                <a:moveTo>
                  <a:pt x="0" y="0"/>
                </a:moveTo>
                <a:lnTo>
                  <a:pt x="835861" y="0"/>
                </a:lnTo>
                <a:lnTo>
                  <a:pt x="835861" y="835861"/>
                </a:lnTo>
                <a:lnTo>
                  <a:pt x="0" y="835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03631" y="3120374"/>
            <a:ext cx="7290549" cy="9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Test Environment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015" y="6443190"/>
            <a:ext cx="4366477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Host CPU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1015" y="7106554"/>
            <a:ext cx="4366477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Intel Xeon E5-2630 v3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1282523" y="2541254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METHODOLOGY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60761" y="6443190"/>
            <a:ext cx="4366477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Guest OS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960761" y="7106554"/>
            <a:ext cx="4366477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Ubuntu 22.04 LTS (KVM)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0507" y="6443190"/>
            <a:ext cx="4366477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Interpreter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550507" y="7106554"/>
            <a:ext cx="4366477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CPython 3.10.12 (Debug)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2057" y="7043785"/>
            <a:ext cx="11762709" cy="1204541"/>
          </a:xfrm>
          <a:custGeom>
            <a:avLst/>
            <a:gdLst/>
            <a:ahLst/>
            <a:cxnLst/>
            <a:rect l="l" t="t" r="r" b="b"/>
            <a:pathLst>
              <a:path w="11762709" h="1204541">
                <a:moveTo>
                  <a:pt x="0" y="0"/>
                </a:moveTo>
                <a:lnTo>
                  <a:pt x="11762710" y="0"/>
                </a:lnTo>
                <a:lnTo>
                  <a:pt x="11762710" y="1204541"/>
                </a:lnTo>
                <a:lnTo>
                  <a:pt x="0" y="1204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02057" y="8591226"/>
            <a:ext cx="11613946" cy="1220492"/>
          </a:xfrm>
          <a:custGeom>
            <a:avLst/>
            <a:gdLst/>
            <a:ahLst/>
            <a:cxnLst/>
            <a:rect l="l" t="t" r="r" b="b"/>
            <a:pathLst>
              <a:path w="11613946" h="1220492">
                <a:moveTo>
                  <a:pt x="0" y="0"/>
                </a:moveTo>
                <a:lnTo>
                  <a:pt x="11613946" y="0"/>
                </a:lnTo>
                <a:lnTo>
                  <a:pt x="11613946" y="1220492"/>
                </a:lnTo>
                <a:lnTo>
                  <a:pt x="0" y="1220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1000" y="2183852"/>
            <a:ext cx="7290549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Fixed-Work </a:t>
            </a:r>
            <a:r>
              <a:rPr lang="en-US" sz="7200" b="1" spc="-266" dirty="0" err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Measurment</a:t>
            </a:r>
            <a:endParaRPr lang="en-US" sz="7200" b="1" spc="-266" dirty="0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02057" y="5089367"/>
            <a:ext cx="4366477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The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2057" y="5752731"/>
            <a:ext cx="6247708" cy="97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Default harness runs 27 processes.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Created 15.9% instruction overcount.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371600" y="1547896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5042" y="4961259"/>
            <a:ext cx="4366477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Our Fix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5042" y="5624623"/>
            <a:ext cx="6247708" cy="97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Single worker process locked flags.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Exact same work across variants.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0256" y="2328909"/>
            <a:ext cx="7290549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PMU &amp; Debug Corrections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0081" y="4534327"/>
            <a:ext cx="6402426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Virtual PMU Limitations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90081" y="5149336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Lacks sampling interrupts. Required explicit event profiling.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115899" y="1749788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0081" y="5895571"/>
            <a:ext cx="6402426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DWARF Unwinding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90081" y="6510580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Frame pointers fail on -Og builds. DWARF used instead.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0081" y="7420324"/>
            <a:ext cx="6402426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Debug Allocator Noise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90081" y="8035334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Excluded 18.3% profile artifacts from pyflate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475489" y="3067145"/>
            <a:ext cx="9721327" cy="5382399"/>
            <a:chOff x="0" y="0"/>
            <a:chExt cx="2560350" cy="14175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60350" cy="1417587"/>
            </a:xfrm>
            <a:custGeom>
              <a:avLst/>
              <a:gdLst/>
              <a:ahLst/>
              <a:cxnLst/>
              <a:rect l="l" t="t" r="r" b="b"/>
              <a:pathLst>
                <a:path w="2560350" h="1417587">
                  <a:moveTo>
                    <a:pt x="40616" y="0"/>
                  </a:moveTo>
                  <a:lnTo>
                    <a:pt x="2519734" y="0"/>
                  </a:lnTo>
                  <a:cubicBezTo>
                    <a:pt x="2530506" y="0"/>
                    <a:pt x="2540837" y="4279"/>
                    <a:pt x="2548454" y="11896"/>
                  </a:cubicBezTo>
                  <a:cubicBezTo>
                    <a:pt x="2556070" y="19513"/>
                    <a:pt x="2560350" y="29844"/>
                    <a:pt x="2560350" y="40616"/>
                  </a:cubicBezTo>
                  <a:lnTo>
                    <a:pt x="2560350" y="1376971"/>
                  </a:lnTo>
                  <a:cubicBezTo>
                    <a:pt x="2560350" y="1387743"/>
                    <a:pt x="2556070" y="1398074"/>
                    <a:pt x="2548454" y="1405690"/>
                  </a:cubicBezTo>
                  <a:cubicBezTo>
                    <a:pt x="2540837" y="1413307"/>
                    <a:pt x="2530506" y="1417587"/>
                    <a:pt x="2519734" y="1417587"/>
                  </a:cubicBezTo>
                  <a:lnTo>
                    <a:pt x="40616" y="1417587"/>
                  </a:lnTo>
                  <a:cubicBezTo>
                    <a:pt x="29844" y="1417587"/>
                    <a:pt x="19513" y="1413307"/>
                    <a:pt x="11896" y="1405690"/>
                  </a:cubicBezTo>
                  <a:cubicBezTo>
                    <a:pt x="4279" y="1398074"/>
                    <a:pt x="0" y="1387743"/>
                    <a:pt x="0" y="1376971"/>
                  </a:cubicBezTo>
                  <a:lnTo>
                    <a:pt x="0" y="40616"/>
                  </a:lnTo>
                  <a:cubicBezTo>
                    <a:pt x="0" y="29844"/>
                    <a:pt x="4279" y="19513"/>
                    <a:pt x="11896" y="11896"/>
                  </a:cubicBezTo>
                  <a:cubicBezTo>
                    <a:pt x="19513" y="4279"/>
                    <a:pt x="29844" y="0"/>
                    <a:pt x="40616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560350" cy="1465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62513" y="-1661341"/>
            <a:ext cx="7176422" cy="6239373"/>
          </a:xfrm>
          <a:custGeom>
            <a:avLst/>
            <a:gdLst/>
            <a:ahLst/>
            <a:cxnLst/>
            <a:rect l="l" t="t" r="r" b="b"/>
            <a:pathLst>
              <a:path w="7176422" h="6239373">
                <a:moveTo>
                  <a:pt x="0" y="0"/>
                </a:moveTo>
                <a:lnTo>
                  <a:pt x="7176422" y="0"/>
                </a:lnTo>
                <a:lnTo>
                  <a:pt x="7176422" y="6239373"/>
                </a:lnTo>
                <a:lnTo>
                  <a:pt x="0" y="6239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266" r="-51178" b="-31897"/>
            </a:stretch>
          </a:blipFill>
          <a:effectLst>
            <a:softEdge rad="127000"/>
          </a:effectLst>
        </p:spPr>
      </p:sp>
      <p:sp>
        <p:nvSpPr>
          <p:cNvPr id="7" name="TextBox 7"/>
          <p:cNvSpPr txBox="1"/>
          <p:nvPr/>
        </p:nvSpPr>
        <p:spPr>
          <a:xfrm>
            <a:off x="1047713" y="3731603"/>
            <a:ext cx="6056426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nbody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713" y="5924487"/>
            <a:ext cx="6056426" cy="97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Five-body gravitational simulation of the sun and four gas giants.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81516" y="4520882"/>
            <a:ext cx="8369095" cy="2958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20,000</a:t>
            </a: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 timesteps per call.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5.4 M</a:t>
            </a: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 float operations per call.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Pure CPython </a:t>
            </a: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generic flaot obkects.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In-place </a:t>
            </a: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list sequence writes.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80928" y="4537392"/>
            <a:ext cx="367263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339840" y="3294932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BENCHMARK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048521"/>
            <a:ext cx="12128757" cy="9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Instruction Bound Workload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9142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Milliseconds per call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58854" y="2611850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BENCHMARK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195" y="5419725"/>
            <a:ext cx="4207198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 spc="-55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477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83163" y="5439629"/>
            <a:ext cx="5183534" cy="198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67"/>
              </a:lnSpc>
            </a:pPr>
            <a:r>
              <a:rPr lang="en-US" sz="14967" b="1" spc="-5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2.9G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04466" y="5439629"/>
            <a:ext cx="5183534" cy="198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67"/>
              </a:lnSpc>
            </a:pPr>
            <a:r>
              <a:rPr lang="en-US" sz="14967" b="1" spc="-5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2.54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01032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Instructions per call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86057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Instructions per 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1838" y="6301147"/>
            <a:ext cx="16277462" cy="3479307"/>
          </a:xfrm>
          <a:custGeom>
            <a:avLst/>
            <a:gdLst/>
            <a:ahLst/>
            <a:cxnLst/>
            <a:rect l="l" t="t" r="r" b="b"/>
            <a:pathLst>
              <a:path w="16277462" h="3479307">
                <a:moveTo>
                  <a:pt x="0" y="0"/>
                </a:moveTo>
                <a:lnTo>
                  <a:pt x="16277462" y="0"/>
                </a:lnTo>
                <a:lnTo>
                  <a:pt x="16277462" y="3479307"/>
                </a:lnTo>
                <a:lnTo>
                  <a:pt x="0" y="3479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81074" y="1767192"/>
            <a:ext cx="9178381" cy="9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Overhead Dominated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074" y="4927895"/>
            <a:ext cx="5789690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Spent managing heap objects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366447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BENCHMARK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074" y="3178511"/>
            <a:ext cx="573123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 spc="-55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88.9%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63230" y="3513056"/>
            <a:ext cx="9535879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Interpreter dispatch: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Sequence element access: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Float boxing: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REAL float arithmetic: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67620" y="3504183"/>
            <a:ext cx="9535879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47.1%</a:t>
            </a:r>
          </a:p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12.8%</a:t>
            </a:r>
          </a:p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12.6%</a:t>
            </a:r>
          </a:p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11.1%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884635" y="5026766"/>
            <a:ext cx="8966717" cy="0"/>
          </a:xfrm>
          <a:prstGeom prst="line">
            <a:avLst/>
          </a:prstGeom>
          <a:ln w="38100" cap="flat">
            <a:solidFill>
              <a:srgbClr val="FFFFFF">
                <a:alpha val="35686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24805" y="4415735"/>
            <a:ext cx="6213930" cy="3111954"/>
            <a:chOff x="0" y="0"/>
            <a:chExt cx="1330333" cy="6662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0333" cy="666235"/>
            </a:xfrm>
            <a:custGeom>
              <a:avLst/>
              <a:gdLst/>
              <a:ahLst/>
              <a:cxnLst/>
              <a:rect l="l" t="t" r="r" b="b"/>
              <a:pathLst>
                <a:path w="1330333" h="666235">
                  <a:moveTo>
                    <a:pt x="63541" y="0"/>
                  </a:moveTo>
                  <a:lnTo>
                    <a:pt x="1266792" y="0"/>
                  </a:lnTo>
                  <a:cubicBezTo>
                    <a:pt x="1283644" y="0"/>
                    <a:pt x="1299806" y="6694"/>
                    <a:pt x="1311722" y="18611"/>
                  </a:cubicBezTo>
                  <a:cubicBezTo>
                    <a:pt x="1323639" y="30527"/>
                    <a:pt x="1330333" y="46689"/>
                    <a:pt x="1330333" y="63541"/>
                  </a:cubicBezTo>
                  <a:lnTo>
                    <a:pt x="1330333" y="602694"/>
                  </a:lnTo>
                  <a:cubicBezTo>
                    <a:pt x="1330333" y="637786"/>
                    <a:pt x="1301885" y="666235"/>
                    <a:pt x="1266792" y="666235"/>
                  </a:cubicBezTo>
                  <a:lnTo>
                    <a:pt x="63541" y="666235"/>
                  </a:lnTo>
                  <a:cubicBezTo>
                    <a:pt x="46689" y="666235"/>
                    <a:pt x="30527" y="659540"/>
                    <a:pt x="18611" y="647624"/>
                  </a:cubicBezTo>
                  <a:cubicBezTo>
                    <a:pt x="6694" y="635708"/>
                    <a:pt x="0" y="619546"/>
                    <a:pt x="0" y="602694"/>
                  </a:cubicBezTo>
                  <a:lnTo>
                    <a:pt x="0" y="63541"/>
                  </a:lnTo>
                  <a:cubicBezTo>
                    <a:pt x="0" y="46689"/>
                    <a:pt x="6694" y="30527"/>
                    <a:pt x="18611" y="18611"/>
                  </a:cubicBezTo>
                  <a:cubicBezTo>
                    <a:pt x="30527" y="6694"/>
                    <a:pt x="46689" y="0"/>
                    <a:pt x="63541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30333" cy="713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767192"/>
            <a:ext cx="9201173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Hoist Indexed Reads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89622" y="3690226"/>
            <a:ext cx="5371689" cy="66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  <a:spcBef>
                <a:spcPct val="0"/>
              </a:spcBef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Before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45925" y="4790364"/>
            <a:ext cx="5371689" cy="181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sz="3444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v1[0] -= dx * b2m</a:t>
            </a:r>
          </a:p>
          <a:p>
            <a:pPr algn="l">
              <a:lnSpc>
                <a:spcPts val="4822"/>
              </a:lnSpc>
            </a:pPr>
            <a:r>
              <a:rPr lang="en-US" sz="3444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v1[1] -= dy * b2m</a:t>
            </a:r>
          </a:p>
          <a:p>
            <a:pPr algn="l">
              <a:lnSpc>
                <a:spcPts val="4822"/>
              </a:lnSpc>
              <a:spcBef>
                <a:spcPct val="0"/>
              </a:spcBef>
            </a:pPr>
            <a:r>
              <a:rPr lang="en-US" sz="3444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v1[2] -= dz * b2m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39916" y="3682238"/>
            <a:ext cx="5371689" cy="66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  <a:spcBef>
                <a:spcPct val="0"/>
              </a:spcBef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After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907849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OPT1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384716" y="4311183"/>
            <a:ext cx="6213930" cy="3111954"/>
            <a:chOff x="0" y="0"/>
            <a:chExt cx="1330333" cy="66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0333" cy="666235"/>
            </a:xfrm>
            <a:custGeom>
              <a:avLst/>
              <a:gdLst/>
              <a:ahLst/>
              <a:cxnLst/>
              <a:rect l="l" t="t" r="r" b="b"/>
              <a:pathLst>
                <a:path w="1330333" h="666235">
                  <a:moveTo>
                    <a:pt x="63541" y="0"/>
                  </a:moveTo>
                  <a:lnTo>
                    <a:pt x="1266792" y="0"/>
                  </a:lnTo>
                  <a:cubicBezTo>
                    <a:pt x="1283644" y="0"/>
                    <a:pt x="1299806" y="6694"/>
                    <a:pt x="1311722" y="18611"/>
                  </a:cubicBezTo>
                  <a:cubicBezTo>
                    <a:pt x="1323639" y="30527"/>
                    <a:pt x="1330333" y="46689"/>
                    <a:pt x="1330333" y="63541"/>
                  </a:cubicBezTo>
                  <a:lnTo>
                    <a:pt x="1330333" y="602694"/>
                  </a:lnTo>
                  <a:cubicBezTo>
                    <a:pt x="1330333" y="637786"/>
                    <a:pt x="1301885" y="666235"/>
                    <a:pt x="1266792" y="666235"/>
                  </a:cubicBezTo>
                  <a:lnTo>
                    <a:pt x="63541" y="666235"/>
                  </a:lnTo>
                  <a:cubicBezTo>
                    <a:pt x="46689" y="666235"/>
                    <a:pt x="30527" y="659540"/>
                    <a:pt x="18611" y="647624"/>
                  </a:cubicBezTo>
                  <a:cubicBezTo>
                    <a:pt x="6694" y="635708"/>
                    <a:pt x="0" y="619546"/>
                    <a:pt x="0" y="602694"/>
                  </a:cubicBezTo>
                  <a:lnTo>
                    <a:pt x="0" y="63541"/>
                  </a:lnTo>
                  <a:cubicBezTo>
                    <a:pt x="0" y="46689"/>
                    <a:pt x="6694" y="30527"/>
                    <a:pt x="18611" y="18611"/>
                  </a:cubicBezTo>
                  <a:cubicBezTo>
                    <a:pt x="30527" y="6694"/>
                    <a:pt x="46689" y="0"/>
                    <a:pt x="63541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30333" cy="713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805836" y="4685811"/>
            <a:ext cx="5371689" cy="181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sz="3444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v1x, v1y, v1z = v1</a:t>
            </a:r>
          </a:p>
          <a:p>
            <a:pPr algn="l">
              <a:lnSpc>
                <a:spcPts val="4822"/>
              </a:lnSpc>
            </a:pPr>
            <a:r>
              <a:rPr lang="en-US" sz="3444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v1[0] = v1x - dx * b2m</a:t>
            </a:r>
          </a:p>
          <a:p>
            <a:pPr algn="l">
              <a:lnSpc>
                <a:spcPts val="4822"/>
              </a:lnSpc>
              <a:spcBef>
                <a:spcPct val="0"/>
              </a:spcBef>
            </a:pPr>
            <a:r>
              <a:rPr lang="en-US" sz="3444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.....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4805" y="7763249"/>
            <a:ext cx="6054948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Repeated generic sequence protocols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39916" y="7763249"/>
            <a:ext cx="4375423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Unpacked to local variables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9142" y="7372350"/>
            <a:ext cx="605642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Time per call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9142" y="5559400"/>
            <a:ext cx="6262836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-10.3%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1032" y="5559400"/>
            <a:ext cx="5183534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B4B4B4"/>
                </a:solidFill>
                <a:latin typeface="Aileron Bold"/>
                <a:ea typeface="Aileron Bold"/>
                <a:cs typeface="Aileron Bold"/>
                <a:sym typeface="Aileron Bold"/>
              </a:rPr>
              <a:t>-8.5%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04466" y="5411054"/>
            <a:ext cx="5183534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737373"/>
                </a:solidFill>
                <a:latin typeface="Aileron Bold"/>
                <a:ea typeface="Aileron Bold"/>
                <a:cs typeface="Aileron Bold"/>
                <a:sym typeface="Aileron Bold"/>
              </a:rPr>
              <a:t>-53%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29632" y="7372350"/>
            <a:ext cx="605642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Instructions per call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86057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Sequence operations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767192"/>
            <a:ext cx="8438635" cy="280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Sequence Work Halved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86418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OPT1 REASULTS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48359" y="3708436"/>
            <a:ext cx="11337638" cy="1699358"/>
            <a:chOff x="0" y="0"/>
            <a:chExt cx="2427262" cy="3638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7262" cy="363814"/>
            </a:xfrm>
            <a:custGeom>
              <a:avLst/>
              <a:gdLst/>
              <a:ahLst/>
              <a:cxnLst/>
              <a:rect l="l" t="t" r="r" b="b"/>
              <a:pathLst>
                <a:path w="2427262" h="363814">
                  <a:moveTo>
                    <a:pt x="34825" y="0"/>
                  </a:moveTo>
                  <a:lnTo>
                    <a:pt x="2392436" y="0"/>
                  </a:lnTo>
                  <a:cubicBezTo>
                    <a:pt x="2411670" y="0"/>
                    <a:pt x="2427262" y="15592"/>
                    <a:pt x="2427262" y="34825"/>
                  </a:cubicBezTo>
                  <a:lnTo>
                    <a:pt x="2427262" y="328988"/>
                  </a:lnTo>
                  <a:cubicBezTo>
                    <a:pt x="2427262" y="338224"/>
                    <a:pt x="2423593" y="347082"/>
                    <a:pt x="2417062" y="353613"/>
                  </a:cubicBezTo>
                  <a:cubicBezTo>
                    <a:pt x="2410531" y="360144"/>
                    <a:pt x="2401673" y="363814"/>
                    <a:pt x="2392436" y="363814"/>
                  </a:cubicBezTo>
                  <a:lnTo>
                    <a:pt x="34825" y="363814"/>
                  </a:lnTo>
                  <a:cubicBezTo>
                    <a:pt x="15592" y="363814"/>
                    <a:pt x="0" y="348222"/>
                    <a:pt x="0" y="328988"/>
                  </a:cubicBezTo>
                  <a:lnTo>
                    <a:pt x="0" y="34825"/>
                  </a:lnTo>
                  <a:cubicBezTo>
                    <a:pt x="0" y="15592"/>
                    <a:pt x="15592" y="0"/>
                    <a:pt x="34825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27262" cy="411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47422" y="6072801"/>
            <a:ext cx="5371689" cy="66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  <a:spcBef>
                <a:spcPct val="0"/>
              </a:spcBef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After</a:t>
            </a:r>
          </a:p>
        </p:txBody>
      </p:sp>
      <p:sp>
        <p:nvSpPr>
          <p:cNvPr id="7" name="Freeform 7"/>
          <p:cNvSpPr/>
          <p:nvPr/>
        </p:nvSpPr>
        <p:spPr>
          <a:xfrm>
            <a:off x="2513176" y="4356737"/>
            <a:ext cx="10811870" cy="644745"/>
          </a:xfrm>
          <a:custGeom>
            <a:avLst/>
            <a:gdLst/>
            <a:ahLst/>
            <a:cxnLst/>
            <a:rect l="l" t="t" r="r" b="b"/>
            <a:pathLst>
              <a:path w="10811870" h="644745">
                <a:moveTo>
                  <a:pt x="0" y="0"/>
                </a:moveTo>
                <a:lnTo>
                  <a:pt x="10811870" y="0"/>
                </a:lnTo>
                <a:lnTo>
                  <a:pt x="10811870" y="644745"/>
                </a:lnTo>
                <a:lnTo>
                  <a:pt x="0" y="644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610981"/>
            <a:ext cx="9201173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Math Reassociation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13176" y="2982926"/>
            <a:ext cx="5371689" cy="66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  <a:spcBef>
                <a:spcPct val="0"/>
              </a:spcBef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Before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907849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OPT2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71244" y="5407794"/>
            <a:ext cx="516011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Generic exponentiation operator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216046" y="6797477"/>
            <a:ext cx="11337638" cy="2525387"/>
            <a:chOff x="0" y="0"/>
            <a:chExt cx="2427262" cy="5406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27262" cy="540657"/>
            </a:xfrm>
            <a:custGeom>
              <a:avLst/>
              <a:gdLst/>
              <a:ahLst/>
              <a:cxnLst/>
              <a:rect l="l" t="t" r="r" b="b"/>
              <a:pathLst>
                <a:path w="2427262" h="540657">
                  <a:moveTo>
                    <a:pt x="34825" y="0"/>
                  </a:moveTo>
                  <a:lnTo>
                    <a:pt x="2392436" y="0"/>
                  </a:lnTo>
                  <a:cubicBezTo>
                    <a:pt x="2411670" y="0"/>
                    <a:pt x="2427262" y="15592"/>
                    <a:pt x="2427262" y="34825"/>
                  </a:cubicBezTo>
                  <a:lnTo>
                    <a:pt x="2427262" y="505832"/>
                  </a:lnTo>
                  <a:cubicBezTo>
                    <a:pt x="2427262" y="525065"/>
                    <a:pt x="2411670" y="540657"/>
                    <a:pt x="2392436" y="540657"/>
                  </a:cubicBezTo>
                  <a:lnTo>
                    <a:pt x="34825" y="540657"/>
                  </a:lnTo>
                  <a:cubicBezTo>
                    <a:pt x="15592" y="540657"/>
                    <a:pt x="0" y="525065"/>
                    <a:pt x="0" y="505832"/>
                  </a:cubicBezTo>
                  <a:lnTo>
                    <a:pt x="0" y="34825"/>
                  </a:lnTo>
                  <a:cubicBezTo>
                    <a:pt x="0" y="15592"/>
                    <a:pt x="15592" y="0"/>
                    <a:pt x="34825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427262" cy="588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702604" y="7167279"/>
            <a:ext cx="9857516" cy="1785782"/>
          </a:xfrm>
          <a:custGeom>
            <a:avLst/>
            <a:gdLst/>
            <a:ahLst/>
            <a:cxnLst/>
            <a:rect l="l" t="t" r="r" b="b"/>
            <a:pathLst>
              <a:path w="9857516" h="1785782">
                <a:moveTo>
                  <a:pt x="0" y="0"/>
                </a:moveTo>
                <a:lnTo>
                  <a:pt x="9857516" y="0"/>
                </a:lnTo>
                <a:lnTo>
                  <a:pt x="9857516" y="1785782"/>
                </a:lnTo>
                <a:lnTo>
                  <a:pt x="0" y="1785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558705" y="9377592"/>
            <a:ext cx="4084340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Replaced with math.sqrt()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37680" y="7313948"/>
            <a:ext cx="552642" cy="502904"/>
          </a:xfrm>
          <a:custGeom>
            <a:avLst/>
            <a:gdLst/>
            <a:ahLst/>
            <a:cxnLst/>
            <a:rect l="l" t="t" r="r" b="b"/>
            <a:pathLst>
              <a:path w="552642" h="502904">
                <a:moveTo>
                  <a:pt x="0" y="0"/>
                </a:moveTo>
                <a:lnTo>
                  <a:pt x="552641" y="0"/>
                </a:lnTo>
                <a:lnTo>
                  <a:pt x="552641" y="502904"/>
                </a:lnTo>
                <a:lnTo>
                  <a:pt x="0" y="502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61254" y="5291325"/>
            <a:ext cx="754719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Math saved 0.059G instructions.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Python function dispatch cost 0.166G.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12582" y="2192494"/>
            <a:ext cx="6262836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+3.7%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90321" y="7256798"/>
            <a:ext cx="13557602" cy="1064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 The path to a cheaper operation can cost more than the operation itself.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30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392265" y="3946345"/>
            <a:ext cx="9503470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A Measured Regression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-86418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OPT2 REASULTS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7684" y="3769396"/>
            <a:ext cx="9191851" cy="4186992"/>
          </a:xfrm>
          <a:custGeom>
            <a:avLst/>
            <a:gdLst/>
            <a:ahLst/>
            <a:cxnLst/>
            <a:rect l="l" t="t" r="r" b="b"/>
            <a:pathLst>
              <a:path w="9191851" h="4186992">
                <a:moveTo>
                  <a:pt x="0" y="0"/>
                </a:moveTo>
                <a:lnTo>
                  <a:pt x="9191851" y="0"/>
                </a:lnTo>
                <a:lnTo>
                  <a:pt x="9191851" y="4186992"/>
                </a:lnTo>
                <a:lnTo>
                  <a:pt x="0" y="4186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767192"/>
            <a:ext cx="9201173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Cython Typed Core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907849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OPT3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2297" y="3843124"/>
            <a:ext cx="6402426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Typed Arrays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2297" y="4458133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Values live unboxed in registers.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2297" y="5204369"/>
            <a:ext cx="6402426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Compile-Time Types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2297" y="5819378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Zero Python interpreter dispatch in the hot loop.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2297" y="6729122"/>
            <a:ext cx="6402426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Identical Semantics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2297" y="7344131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Final energy output bit-exact.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9142" y="7372350"/>
            <a:ext cx="605642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Runtime Reduction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9142" y="5559400"/>
            <a:ext cx="6262836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99.2%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1032" y="5559400"/>
            <a:ext cx="5183534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B4B4B4"/>
                </a:solidFill>
                <a:latin typeface="Aileron Bold"/>
                <a:ea typeface="Aileron Bold"/>
                <a:cs typeface="Aileron Bold"/>
                <a:sym typeface="Aileron Bold"/>
              </a:rPr>
              <a:t>125x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04466" y="5411054"/>
            <a:ext cx="5183534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737373"/>
                </a:solidFill>
                <a:latin typeface="Aileron Bold"/>
                <a:ea typeface="Aileron Bold"/>
                <a:cs typeface="Aileron Bold"/>
                <a:sym typeface="Aileron Bold"/>
              </a:rPr>
              <a:t>147x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29632" y="7372350"/>
            <a:ext cx="605642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Faster overall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86057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Fewer instructions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767192"/>
            <a:ext cx="8438635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Interpreter Bypassed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86418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NBODY OPT3 REASULTS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32779" y="8989035"/>
            <a:ext cx="10305851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Required linear intercept calculation to remove 37% startup noise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475489" y="3067145"/>
            <a:ext cx="9721327" cy="5382399"/>
            <a:chOff x="0" y="0"/>
            <a:chExt cx="2560350" cy="14175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60350" cy="1417587"/>
            </a:xfrm>
            <a:custGeom>
              <a:avLst/>
              <a:gdLst/>
              <a:ahLst/>
              <a:cxnLst/>
              <a:rect l="l" t="t" r="r" b="b"/>
              <a:pathLst>
                <a:path w="2560350" h="1417587">
                  <a:moveTo>
                    <a:pt x="40616" y="0"/>
                  </a:moveTo>
                  <a:lnTo>
                    <a:pt x="2519734" y="0"/>
                  </a:lnTo>
                  <a:cubicBezTo>
                    <a:pt x="2530506" y="0"/>
                    <a:pt x="2540837" y="4279"/>
                    <a:pt x="2548454" y="11896"/>
                  </a:cubicBezTo>
                  <a:cubicBezTo>
                    <a:pt x="2556070" y="19513"/>
                    <a:pt x="2560350" y="29844"/>
                    <a:pt x="2560350" y="40616"/>
                  </a:cubicBezTo>
                  <a:lnTo>
                    <a:pt x="2560350" y="1376971"/>
                  </a:lnTo>
                  <a:cubicBezTo>
                    <a:pt x="2560350" y="1387743"/>
                    <a:pt x="2556070" y="1398074"/>
                    <a:pt x="2548454" y="1405690"/>
                  </a:cubicBezTo>
                  <a:cubicBezTo>
                    <a:pt x="2540837" y="1413307"/>
                    <a:pt x="2530506" y="1417587"/>
                    <a:pt x="2519734" y="1417587"/>
                  </a:cubicBezTo>
                  <a:lnTo>
                    <a:pt x="40616" y="1417587"/>
                  </a:lnTo>
                  <a:cubicBezTo>
                    <a:pt x="29844" y="1417587"/>
                    <a:pt x="19513" y="1413307"/>
                    <a:pt x="11896" y="1405690"/>
                  </a:cubicBezTo>
                  <a:cubicBezTo>
                    <a:pt x="4279" y="1398074"/>
                    <a:pt x="0" y="1387743"/>
                    <a:pt x="0" y="1376971"/>
                  </a:cubicBezTo>
                  <a:lnTo>
                    <a:pt x="0" y="40616"/>
                  </a:lnTo>
                  <a:cubicBezTo>
                    <a:pt x="0" y="29844"/>
                    <a:pt x="4279" y="19513"/>
                    <a:pt x="11896" y="11896"/>
                  </a:cubicBezTo>
                  <a:cubicBezTo>
                    <a:pt x="19513" y="4279"/>
                    <a:pt x="29844" y="0"/>
                    <a:pt x="40616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560350" cy="1465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22368" y="-1063465"/>
            <a:ext cx="7697857" cy="5022525"/>
          </a:xfrm>
          <a:custGeom>
            <a:avLst/>
            <a:gdLst/>
            <a:ahLst/>
            <a:cxnLst/>
            <a:rect l="l" t="t" r="r" b="b"/>
            <a:pathLst>
              <a:path w="7697857" h="5022525">
                <a:moveTo>
                  <a:pt x="0" y="0"/>
                </a:moveTo>
                <a:lnTo>
                  <a:pt x="7697857" y="0"/>
                </a:lnTo>
                <a:lnTo>
                  <a:pt x="7697857" y="5022524"/>
                </a:lnTo>
                <a:lnTo>
                  <a:pt x="0" y="5022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t="-10770" r="-43517" b="-5420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47713" y="3731603"/>
            <a:ext cx="6056426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pyflate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713" y="5924487"/>
            <a:ext cx="6056426" cy="97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Pure-Python bzip2 decompression workload.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81516" y="4520882"/>
            <a:ext cx="8369095" cy="3453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89,837 </a:t>
            </a: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MTF operations per call.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145-entry </a:t>
            </a: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Python list mutation.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Fixed MD5 </a:t>
            </a: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digest verification.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Data-movement</a:t>
            </a: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 bound algorithm.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80928" y="4537392"/>
            <a:ext cx="367263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DM Sans Bold"/>
                <a:ea typeface="DM Sans Bold"/>
                <a:cs typeface="DM Sans Bold"/>
                <a:sym typeface="DM Sans Bold"/>
              </a:rPr>
              <a:t>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339840" y="3294932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PYFLATE BENCHMARK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048521"/>
            <a:ext cx="12128757" cy="9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Memory Bound Workload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3445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Seconds per call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86418" y="2673236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PYFLATE BENCHMARK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195" y="5419725"/>
            <a:ext cx="4207198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1" spc="-55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3.14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34316" y="5439629"/>
            <a:ext cx="5183534" cy="198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67"/>
              </a:lnSpc>
            </a:pPr>
            <a:r>
              <a:rPr lang="en-US" sz="14967" b="1" spc="-5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16.6G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04466" y="5439629"/>
            <a:ext cx="5183534" cy="198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67"/>
              </a:lnSpc>
            </a:pPr>
            <a:r>
              <a:rPr lang="en-US" sz="14967" b="1" spc="-5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127k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90700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Instructions per call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86057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Page fault per run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9852" y="3896693"/>
            <a:ext cx="6361793" cy="147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List slicing, concatenation, and deallocation completely dominate the python execution path.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076" y="6073622"/>
            <a:ext cx="9535879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Interpreter dispatch: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Debug-build allocator (excluded):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Function call machinery: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List &amp; slice ops (MTF):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2087114" y="6073622"/>
            <a:ext cx="9535879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29.4%</a:t>
            </a:r>
          </a:p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18.3%</a:t>
            </a:r>
          </a:p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12.2%</a:t>
            </a:r>
          </a:p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11.7%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626831" y="7587331"/>
            <a:ext cx="6926709" cy="0"/>
          </a:xfrm>
          <a:prstGeom prst="line">
            <a:avLst/>
          </a:prstGeom>
          <a:ln w="38100" cap="flat">
            <a:solidFill>
              <a:srgbClr val="FFFFFF">
                <a:alpha val="3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7920631" y="3037126"/>
            <a:ext cx="9980756" cy="5660204"/>
          </a:xfrm>
          <a:custGeom>
            <a:avLst/>
            <a:gdLst/>
            <a:ahLst/>
            <a:cxnLst/>
            <a:rect l="l" t="t" r="r" b="b"/>
            <a:pathLst>
              <a:path w="9980756" h="5660204">
                <a:moveTo>
                  <a:pt x="0" y="0"/>
                </a:moveTo>
                <a:lnTo>
                  <a:pt x="9980756" y="0"/>
                </a:lnTo>
                <a:lnTo>
                  <a:pt x="9980756" y="5660204"/>
                </a:lnTo>
                <a:lnTo>
                  <a:pt x="0" y="5660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81074" y="1767192"/>
            <a:ext cx="9178381" cy="9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MTF List Churn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17601" y="1391906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PYFLATE BENCHMARK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73747" y="4877506"/>
            <a:ext cx="404055" cy="331325"/>
          </a:xfrm>
          <a:custGeom>
            <a:avLst/>
            <a:gdLst/>
            <a:ahLst/>
            <a:cxnLst/>
            <a:rect l="l" t="t" r="r" b="b"/>
            <a:pathLst>
              <a:path w="404055" h="331325">
                <a:moveTo>
                  <a:pt x="0" y="0"/>
                </a:moveTo>
                <a:lnTo>
                  <a:pt x="404055" y="0"/>
                </a:lnTo>
                <a:lnTo>
                  <a:pt x="404055" y="331325"/>
                </a:lnTo>
                <a:lnTo>
                  <a:pt x="0" y="3313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62577" y="5377905"/>
            <a:ext cx="415225" cy="415225"/>
          </a:xfrm>
          <a:custGeom>
            <a:avLst/>
            <a:gdLst/>
            <a:ahLst/>
            <a:cxnLst/>
            <a:rect l="l" t="t" r="r" b="b"/>
            <a:pathLst>
              <a:path w="415225" h="415225">
                <a:moveTo>
                  <a:pt x="0" y="0"/>
                </a:moveTo>
                <a:lnTo>
                  <a:pt x="415225" y="0"/>
                </a:lnTo>
                <a:lnTo>
                  <a:pt x="415225" y="415225"/>
                </a:lnTo>
                <a:lnTo>
                  <a:pt x="0" y="415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22302" y="5964580"/>
            <a:ext cx="506946" cy="334584"/>
          </a:xfrm>
          <a:custGeom>
            <a:avLst/>
            <a:gdLst/>
            <a:ahLst/>
            <a:cxnLst/>
            <a:rect l="l" t="t" r="r" b="b"/>
            <a:pathLst>
              <a:path w="506946" h="334584">
                <a:moveTo>
                  <a:pt x="0" y="0"/>
                </a:moveTo>
                <a:lnTo>
                  <a:pt x="506945" y="0"/>
                </a:lnTo>
                <a:lnTo>
                  <a:pt x="506945" y="334584"/>
                </a:lnTo>
                <a:lnTo>
                  <a:pt x="0" y="3345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87199" y="2125361"/>
            <a:ext cx="10548517" cy="9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The MTF Bottleneck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0477" y="4753203"/>
            <a:ext cx="5789690" cy="160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3 List Slices</a:t>
            </a:r>
          </a:p>
          <a:p>
            <a:pPr algn="l">
              <a:lnSpc>
                <a:spcPts val="560"/>
              </a:lnSpc>
            </a:pPr>
            <a:endParaRPr lang="en-US" sz="2800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2 Concatenations</a:t>
            </a:r>
          </a:p>
          <a:p>
            <a:pPr algn="l">
              <a:lnSpc>
                <a:spcPts val="559"/>
              </a:lnSpc>
            </a:pPr>
            <a:endParaRPr lang="en-US" sz="2800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5 Heap Allocations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275" y="1594185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PYFLATE BENCHMARK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8904967" y="4018031"/>
            <a:ext cx="0" cy="3134973"/>
          </a:xfrm>
          <a:prstGeom prst="line">
            <a:avLst/>
          </a:prstGeom>
          <a:ln w="38100" cap="flat">
            <a:solidFill>
              <a:srgbClr val="FFFFFF">
                <a:alpha val="3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888389" y="4370810"/>
            <a:ext cx="6710456" cy="198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67"/>
              </a:lnSpc>
            </a:pPr>
            <a:r>
              <a:rPr lang="en-US" sz="14967" b="1" spc="-5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21,400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09155" y="6303532"/>
            <a:ext cx="5789690" cy="4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Instructions per byte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43156" y="3720600"/>
            <a:ext cx="11337638" cy="1699358"/>
            <a:chOff x="0" y="0"/>
            <a:chExt cx="2427262" cy="3638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7262" cy="363814"/>
            </a:xfrm>
            <a:custGeom>
              <a:avLst/>
              <a:gdLst/>
              <a:ahLst/>
              <a:cxnLst/>
              <a:rect l="l" t="t" r="r" b="b"/>
              <a:pathLst>
                <a:path w="2427262" h="363814">
                  <a:moveTo>
                    <a:pt x="34825" y="0"/>
                  </a:moveTo>
                  <a:lnTo>
                    <a:pt x="2392436" y="0"/>
                  </a:lnTo>
                  <a:cubicBezTo>
                    <a:pt x="2411670" y="0"/>
                    <a:pt x="2427262" y="15592"/>
                    <a:pt x="2427262" y="34825"/>
                  </a:cubicBezTo>
                  <a:lnTo>
                    <a:pt x="2427262" y="328988"/>
                  </a:lnTo>
                  <a:cubicBezTo>
                    <a:pt x="2427262" y="338224"/>
                    <a:pt x="2423593" y="347082"/>
                    <a:pt x="2417062" y="353613"/>
                  </a:cubicBezTo>
                  <a:cubicBezTo>
                    <a:pt x="2410531" y="360144"/>
                    <a:pt x="2401673" y="363814"/>
                    <a:pt x="2392436" y="363814"/>
                  </a:cubicBezTo>
                  <a:lnTo>
                    <a:pt x="34825" y="363814"/>
                  </a:lnTo>
                  <a:cubicBezTo>
                    <a:pt x="15592" y="363814"/>
                    <a:pt x="0" y="348222"/>
                    <a:pt x="0" y="328988"/>
                  </a:cubicBezTo>
                  <a:lnTo>
                    <a:pt x="0" y="34825"/>
                  </a:lnTo>
                  <a:cubicBezTo>
                    <a:pt x="0" y="15592"/>
                    <a:pt x="15592" y="0"/>
                    <a:pt x="34825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27262" cy="411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10843" y="6809641"/>
            <a:ext cx="11337638" cy="2237295"/>
            <a:chOff x="0" y="0"/>
            <a:chExt cx="2427262" cy="478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27262" cy="478980"/>
            </a:xfrm>
            <a:custGeom>
              <a:avLst/>
              <a:gdLst/>
              <a:ahLst/>
              <a:cxnLst/>
              <a:rect l="l" t="t" r="r" b="b"/>
              <a:pathLst>
                <a:path w="2427262" h="478980">
                  <a:moveTo>
                    <a:pt x="34825" y="0"/>
                  </a:moveTo>
                  <a:lnTo>
                    <a:pt x="2392436" y="0"/>
                  </a:lnTo>
                  <a:cubicBezTo>
                    <a:pt x="2411670" y="0"/>
                    <a:pt x="2427262" y="15592"/>
                    <a:pt x="2427262" y="34825"/>
                  </a:cubicBezTo>
                  <a:lnTo>
                    <a:pt x="2427262" y="444155"/>
                  </a:lnTo>
                  <a:cubicBezTo>
                    <a:pt x="2427262" y="453391"/>
                    <a:pt x="2423593" y="462249"/>
                    <a:pt x="2417062" y="468780"/>
                  </a:cubicBezTo>
                  <a:cubicBezTo>
                    <a:pt x="2410531" y="475311"/>
                    <a:pt x="2401673" y="478980"/>
                    <a:pt x="2392436" y="478980"/>
                  </a:cubicBezTo>
                  <a:lnTo>
                    <a:pt x="34825" y="478980"/>
                  </a:lnTo>
                  <a:cubicBezTo>
                    <a:pt x="15592" y="478980"/>
                    <a:pt x="0" y="463388"/>
                    <a:pt x="0" y="444155"/>
                  </a:cubicBezTo>
                  <a:lnTo>
                    <a:pt x="0" y="34825"/>
                  </a:lnTo>
                  <a:cubicBezTo>
                    <a:pt x="0" y="15592"/>
                    <a:pt x="15592" y="0"/>
                    <a:pt x="34825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27262" cy="526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35643" y="3881596"/>
            <a:ext cx="9819274" cy="1376534"/>
          </a:xfrm>
          <a:custGeom>
            <a:avLst/>
            <a:gdLst/>
            <a:ahLst/>
            <a:cxnLst/>
            <a:rect l="l" t="t" r="r" b="b"/>
            <a:pathLst>
              <a:path w="9819274" h="1376534">
                <a:moveTo>
                  <a:pt x="0" y="0"/>
                </a:moveTo>
                <a:lnTo>
                  <a:pt x="9819275" y="0"/>
                </a:lnTo>
                <a:lnTo>
                  <a:pt x="9819275" y="1376533"/>
                </a:lnTo>
                <a:lnTo>
                  <a:pt x="0" y="1376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35643" y="7009666"/>
            <a:ext cx="7912708" cy="1699048"/>
          </a:xfrm>
          <a:custGeom>
            <a:avLst/>
            <a:gdLst/>
            <a:ahLst/>
            <a:cxnLst/>
            <a:rect l="l" t="t" r="r" b="b"/>
            <a:pathLst>
              <a:path w="7912708" h="1699048">
                <a:moveTo>
                  <a:pt x="0" y="0"/>
                </a:moveTo>
                <a:lnTo>
                  <a:pt x="7912708" y="0"/>
                </a:lnTo>
                <a:lnTo>
                  <a:pt x="7912708" y="1699048"/>
                </a:lnTo>
                <a:lnTo>
                  <a:pt x="0" y="1699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47178" y="1479049"/>
            <a:ext cx="9201173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In-Place MTF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-889371" y="899929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PYFLATE OPT1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2219" y="6084965"/>
            <a:ext cx="5371689" cy="66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  <a:spcBef>
                <a:spcPct val="0"/>
              </a:spcBef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After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07973" y="2995091"/>
            <a:ext cx="5371689" cy="66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  <a:spcBef>
                <a:spcPct val="0"/>
              </a:spcBef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Before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42219" y="5460710"/>
            <a:ext cx="329046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Complete list rebuild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51059" y="9208861"/>
            <a:ext cx="3914304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Two internal memmoves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9142" y="7372350"/>
            <a:ext cx="605642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Time per call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9142" y="5559400"/>
            <a:ext cx="6262836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-12.7%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1032" y="5559400"/>
            <a:ext cx="5183534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B4B4B4"/>
                </a:solidFill>
                <a:latin typeface="Aileron Bold"/>
                <a:ea typeface="Aileron Bold"/>
                <a:cs typeface="Aileron Bold"/>
                <a:sym typeface="Aileron Bold"/>
              </a:rPr>
              <a:t>-72%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04466" y="5411054"/>
            <a:ext cx="5183534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737373"/>
                </a:solidFill>
                <a:latin typeface="Aileron Bold"/>
                <a:ea typeface="Aileron Bold"/>
                <a:cs typeface="Aileron Bold"/>
                <a:sym typeface="Aileron Bold"/>
              </a:rPr>
              <a:t>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29632" y="7372350"/>
            <a:ext cx="605642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MTF stage operations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86057" y="7372350"/>
            <a:ext cx="6056426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Heap allocations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767192"/>
            <a:ext cx="8438635" cy="280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Stage Cost Collapsed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86418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PYFLATE OPT1 REASULTS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5155" y="3327637"/>
            <a:ext cx="9201173" cy="280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Table-Driven Huffman Decode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889371" y="2748516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PYFLATE OPT2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5155" y="5436703"/>
            <a:ext cx="5371207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Grouped symbols by code length.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7620" y="6510708"/>
            <a:ext cx="9228708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Replaced linear scan loop with one dict lookup per length.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5147" y="2923777"/>
            <a:ext cx="5371689" cy="66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  <a:spcBef>
                <a:spcPct val="0"/>
              </a:spcBef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Linear Search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5147" y="3830964"/>
            <a:ext cx="3419078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Slow interpreted loop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13766586" y="4752630"/>
            <a:ext cx="0" cy="965395"/>
          </a:xfrm>
          <a:prstGeom prst="line">
            <a:avLst/>
          </a:prstGeom>
          <a:ln w="76200" cap="flat">
            <a:solidFill>
              <a:srgbClr val="FFFFFF">
                <a:alpha val="46667"/>
              </a:srgbClr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TextBox 10"/>
          <p:cNvSpPr txBox="1"/>
          <p:nvPr/>
        </p:nvSpPr>
        <p:spPr>
          <a:xfrm>
            <a:off x="12095147" y="6145594"/>
            <a:ext cx="5371689" cy="66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  <a:spcBef>
                <a:spcPct val="0"/>
              </a:spcBef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Heap Lookup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17756" y="7052782"/>
            <a:ext cx="357385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Direct length mapping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1318" y="6460060"/>
            <a:ext cx="605642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Cumulative speedup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1318" y="4647110"/>
            <a:ext cx="6262836" cy="18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1" spc="-51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-16.2%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767192"/>
            <a:ext cx="8438635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The Real Mechanism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86418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PYFLATE OPT2 REASULTS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99621" y="4058168"/>
            <a:ext cx="9241174" cy="3842543"/>
            <a:chOff x="0" y="0"/>
            <a:chExt cx="2433890" cy="10120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3890" cy="1012028"/>
            </a:xfrm>
            <a:custGeom>
              <a:avLst/>
              <a:gdLst/>
              <a:ahLst/>
              <a:cxnLst/>
              <a:rect l="l" t="t" r="r" b="b"/>
              <a:pathLst>
                <a:path w="2433890" h="1012028">
                  <a:moveTo>
                    <a:pt x="42726" y="0"/>
                  </a:moveTo>
                  <a:lnTo>
                    <a:pt x="2391164" y="0"/>
                  </a:lnTo>
                  <a:cubicBezTo>
                    <a:pt x="2414761" y="0"/>
                    <a:pt x="2433890" y="19129"/>
                    <a:pt x="2433890" y="42726"/>
                  </a:cubicBezTo>
                  <a:lnTo>
                    <a:pt x="2433890" y="969302"/>
                  </a:lnTo>
                  <a:cubicBezTo>
                    <a:pt x="2433890" y="992899"/>
                    <a:pt x="2414761" y="1012028"/>
                    <a:pt x="2391164" y="1012028"/>
                  </a:cubicBezTo>
                  <a:lnTo>
                    <a:pt x="42726" y="1012028"/>
                  </a:lnTo>
                  <a:cubicBezTo>
                    <a:pt x="19129" y="1012028"/>
                    <a:pt x="0" y="992899"/>
                    <a:pt x="0" y="969302"/>
                  </a:cubicBezTo>
                  <a:lnTo>
                    <a:pt x="0" y="42726"/>
                  </a:lnTo>
                  <a:cubicBezTo>
                    <a:pt x="0" y="19129"/>
                    <a:pt x="19129" y="0"/>
                    <a:pt x="42726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433890" cy="1059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933541" y="4931629"/>
            <a:ext cx="7982424" cy="201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</a:pPr>
            <a:r>
              <a:rPr lang="en-US" sz="3936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Unexpected Attribution</a:t>
            </a:r>
          </a:p>
          <a:p>
            <a:pPr algn="l">
              <a:lnSpc>
                <a:spcPts val="1399"/>
              </a:lnSpc>
            </a:pPr>
            <a:endParaRPr lang="en-US" sz="3936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Dict lookups actually increased</a:t>
            </a:r>
          </a:p>
          <a:p>
            <a:pPr algn="l">
              <a:lnSpc>
                <a:spcPts val="139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92% gain from eliminating the interpreter loop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26474" y="0"/>
            <a:ext cx="15061526" cy="10645055"/>
          </a:xfrm>
          <a:custGeom>
            <a:avLst/>
            <a:gdLst/>
            <a:ahLst/>
            <a:cxnLst/>
            <a:rect l="l" t="t" r="r" b="b"/>
            <a:pathLst>
              <a:path w="15061526" h="10645055">
                <a:moveTo>
                  <a:pt x="0" y="0"/>
                </a:moveTo>
                <a:lnTo>
                  <a:pt x="15061526" y="0"/>
                </a:lnTo>
                <a:lnTo>
                  <a:pt x="15061526" y="10645055"/>
                </a:lnTo>
                <a:lnTo>
                  <a:pt x="0" y="10645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t="-3058" b="-3058"/>
            </a:stretch>
          </a:blipFill>
          <a:effectLst>
            <a:softEdge rad="635000"/>
          </a:effectLst>
        </p:spPr>
      </p:sp>
      <p:sp>
        <p:nvSpPr>
          <p:cNvPr id="4" name="TextBox 4"/>
          <p:cNvSpPr txBox="1"/>
          <p:nvPr/>
        </p:nvSpPr>
        <p:spPr>
          <a:xfrm>
            <a:off x="1028700" y="1767192"/>
            <a:ext cx="8438635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Move-To-Front Unit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86418" y="1188071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HARDWARE PROPOSAL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2068" y="3123732"/>
            <a:ext cx="6402426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Fixed Working Set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2068" y="3738741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256 bytes resident. Zero memory traffic.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2068" y="5086350"/>
            <a:ext cx="6402426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High Utilization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02068" y="5701359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Runs 89,837 times per call.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2068" y="7065383"/>
            <a:ext cx="6402426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Software Proven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02068" y="7680392"/>
            <a:ext cx="9535879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Opt1 proved stage value.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1009650" y="2975034"/>
            <a:ext cx="0" cy="1454317"/>
          </a:xfrm>
          <a:prstGeom prst="line">
            <a:avLst/>
          </a:prstGeom>
          <a:ln w="38100" cap="flat">
            <a:solidFill>
              <a:srgbClr val="FFFFFF">
                <a:alpha val="3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028700" y="4937652"/>
            <a:ext cx="0" cy="1454317"/>
          </a:xfrm>
          <a:prstGeom prst="line">
            <a:avLst/>
          </a:prstGeom>
          <a:ln w="38100" cap="flat">
            <a:solidFill>
              <a:srgbClr val="FFFFFF">
                <a:alpha val="3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1028700" y="7122533"/>
            <a:ext cx="0" cy="1454317"/>
          </a:xfrm>
          <a:prstGeom prst="line">
            <a:avLst/>
          </a:prstGeom>
          <a:ln w="38100" cap="flat">
            <a:solidFill>
              <a:srgbClr val="FFFFFF">
                <a:alpha val="35686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93605" y="2769251"/>
            <a:ext cx="14510916" cy="6709078"/>
            <a:chOff x="0" y="0"/>
            <a:chExt cx="1879765" cy="8691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9765" cy="869104"/>
            </a:xfrm>
            <a:custGeom>
              <a:avLst/>
              <a:gdLst/>
              <a:ahLst/>
              <a:cxnLst/>
              <a:rect l="l" t="t" r="r" b="b"/>
              <a:pathLst>
                <a:path w="1879765" h="869104">
                  <a:moveTo>
                    <a:pt x="12271" y="0"/>
                  </a:moveTo>
                  <a:lnTo>
                    <a:pt x="1867494" y="0"/>
                  </a:lnTo>
                  <a:cubicBezTo>
                    <a:pt x="1870749" y="0"/>
                    <a:pt x="1873870" y="1293"/>
                    <a:pt x="1876171" y="3594"/>
                  </a:cubicBezTo>
                  <a:cubicBezTo>
                    <a:pt x="1878473" y="5895"/>
                    <a:pt x="1879765" y="9017"/>
                    <a:pt x="1879765" y="12271"/>
                  </a:cubicBezTo>
                  <a:lnTo>
                    <a:pt x="1879765" y="856833"/>
                  </a:lnTo>
                  <a:cubicBezTo>
                    <a:pt x="1879765" y="860087"/>
                    <a:pt x="1878473" y="863208"/>
                    <a:pt x="1876171" y="865510"/>
                  </a:cubicBezTo>
                  <a:cubicBezTo>
                    <a:pt x="1873870" y="867811"/>
                    <a:pt x="1870749" y="869104"/>
                    <a:pt x="1867494" y="869104"/>
                  </a:cubicBezTo>
                  <a:lnTo>
                    <a:pt x="12271" y="869104"/>
                  </a:lnTo>
                  <a:cubicBezTo>
                    <a:pt x="9017" y="869104"/>
                    <a:pt x="5895" y="867811"/>
                    <a:pt x="3594" y="865510"/>
                  </a:cubicBezTo>
                  <a:cubicBezTo>
                    <a:pt x="1293" y="863208"/>
                    <a:pt x="0" y="860087"/>
                    <a:pt x="0" y="856833"/>
                  </a:cubicBezTo>
                  <a:lnTo>
                    <a:pt x="0" y="12271"/>
                  </a:lnTo>
                  <a:cubicBezTo>
                    <a:pt x="0" y="9017"/>
                    <a:pt x="1293" y="5895"/>
                    <a:pt x="3594" y="3594"/>
                  </a:cubicBezTo>
                  <a:cubicBezTo>
                    <a:pt x="5895" y="1293"/>
                    <a:pt x="9017" y="0"/>
                    <a:pt x="12271" y="0"/>
                  </a:cubicBezTo>
                  <a:close/>
                </a:path>
              </a:pathLst>
            </a:custGeom>
            <a:blipFill>
              <a:blip r:embed="rId3"/>
              <a:stretch>
                <a:fillRect t="-486" b="-48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115118" y="1290198"/>
            <a:ext cx="14889403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mtf_unit: Single-Cycle Parallel Shift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711078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HARDWARE PROPOSAL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964326" y="1632291"/>
            <a:ext cx="7612970" cy="8012286"/>
            <a:chOff x="0" y="0"/>
            <a:chExt cx="1006344" cy="10591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06344" cy="1059129"/>
            </a:xfrm>
            <a:custGeom>
              <a:avLst/>
              <a:gdLst/>
              <a:ahLst/>
              <a:cxnLst/>
              <a:rect l="l" t="t" r="r" b="b"/>
              <a:pathLst>
                <a:path w="1006344" h="1059129">
                  <a:moveTo>
                    <a:pt x="23390" y="0"/>
                  </a:moveTo>
                  <a:lnTo>
                    <a:pt x="982955" y="0"/>
                  </a:lnTo>
                  <a:cubicBezTo>
                    <a:pt x="995873" y="0"/>
                    <a:pt x="1006344" y="10472"/>
                    <a:pt x="1006344" y="23390"/>
                  </a:cubicBezTo>
                  <a:lnTo>
                    <a:pt x="1006344" y="1035740"/>
                  </a:lnTo>
                  <a:cubicBezTo>
                    <a:pt x="1006344" y="1048657"/>
                    <a:pt x="995873" y="1059129"/>
                    <a:pt x="982955" y="1059129"/>
                  </a:cubicBezTo>
                  <a:lnTo>
                    <a:pt x="23390" y="1059129"/>
                  </a:lnTo>
                  <a:cubicBezTo>
                    <a:pt x="10472" y="1059129"/>
                    <a:pt x="0" y="1048657"/>
                    <a:pt x="0" y="1035740"/>
                  </a:cubicBezTo>
                  <a:lnTo>
                    <a:pt x="0" y="23390"/>
                  </a:lnTo>
                  <a:cubicBezTo>
                    <a:pt x="0" y="10472"/>
                    <a:pt x="10472" y="0"/>
                    <a:pt x="23390" y="0"/>
                  </a:cubicBezTo>
                  <a:close/>
                </a:path>
              </a:pathLst>
            </a:custGeom>
            <a:blipFill>
              <a:blip r:embed="rId3"/>
              <a:stretch>
                <a:fillRect l="-1148" r="-1148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115118" y="1290198"/>
            <a:ext cx="14889403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Flow &amp; Interfaces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711078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SOFTWARE INTEGRATION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2068" y="3123732"/>
            <a:ext cx="6402426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ISA Extension 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02068" y="3853173"/>
            <a:ext cx="6694909" cy="196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1 cycle execution (~5 ns).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Custom instruction (e.g. RISC-V custom-0).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02068" y="5388531"/>
            <a:ext cx="6402426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Memory Mapped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02068" y="6117973"/>
            <a:ext cx="5552033" cy="147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Two bus round trips (~100-200 ns).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32-bit AXI4-Lite slave.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846209"/>
            <a:ext cx="5051108" cy="3941456"/>
            <a:chOff x="0" y="0"/>
            <a:chExt cx="1330333" cy="10380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0333" cy="1038079"/>
            </a:xfrm>
            <a:custGeom>
              <a:avLst/>
              <a:gdLst/>
              <a:ahLst/>
              <a:cxnLst/>
              <a:rect l="l" t="t" r="r" b="b"/>
              <a:pathLst>
                <a:path w="1330333" h="1038079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959910"/>
                  </a:lnTo>
                  <a:cubicBezTo>
                    <a:pt x="1330333" y="1003082"/>
                    <a:pt x="1295336" y="1038079"/>
                    <a:pt x="1252164" y="1038079"/>
                  </a:cubicBezTo>
                  <a:lnTo>
                    <a:pt x="78169" y="1038079"/>
                  </a:lnTo>
                  <a:cubicBezTo>
                    <a:pt x="57437" y="1038079"/>
                    <a:pt x="37554" y="1029843"/>
                    <a:pt x="22895" y="1015184"/>
                  </a:cubicBezTo>
                  <a:cubicBezTo>
                    <a:pt x="8236" y="1000525"/>
                    <a:pt x="0" y="980642"/>
                    <a:pt x="0" y="959910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30333" cy="1085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18446" y="4846209"/>
            <a:ext cx="5051108" cy="3941456"/>
            <a:chOff x="0" y="0"/>
            <a:chExt cx="1330333" cy="10380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0333" cy="1038079"/>
            </a:xfrm>
            <a:custGeom>
              <a:avLst/>
              <a:gdLst/>
              <a:ahLst/>
              <a:cxnLst/>
              <a:rect l="l" t="t" r="r" b="b"/>
              <a:pathLst>
                <a:path w="1330333" h="1038079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959910"/>
                  </a:lnTo>
                  <a:cubicBezTo>
                    <a:pt x="1330333" y="1003082"/>
                    <a:pt x="1295336" y="1038079"/>
                    <a:pt x="1252164" y="1038079"/>
                  </a:cubicBezTo>
                  <a:lnTo>
                    <a:pt x="78169" y="1038079"/>
                  </a:lnTo>
                  <a:cubicBezTo>
                    <a:pt x="57437" y="1038079"/>
                    <a:pt x="37554" y="1029843"/>
                    <a:pt x="22895" y="1015184"/>
                  </a:cubicBezTo>
                  <a:cubicBezTo>
                    <a:pt x="8236" y="1000525"/>
                    <a:pt x="0" y="980642"/>
                    <a:pt x="0" y="959910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30333" cy="1085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08192" y="4846209"/>
            <a:ext cx="5051108" cy="3941456"/>
            <a:chOff x="0" y="0"/>
            <a:chExt cx="1330333" cy="103807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30333" cy="1038079"/>
            </a:xfrm>
            <a:custGeom>
              <a:avLst/>
              <a:gdLst/>
              <a:ahLst/>
              <a:cxnLst/>
              <a:rect l="l" t="t" r="r" b="b"/>
              <a:pathLst>
                <a:path w="1330333" h="1038079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959910"/>
                  </a:lnTo>
                  <a:cubicBezTo>
                    <a:pt x="1330333" y="1003082"/>
                    <a:pt x="1295336" y="1038079"/>
                    <a:pt x="1252164" y="1038079"/>
                  </a:cubicBezTo>
                  <a:lnTo>
                    <a:pt x="78169" y="1038079"/>
                  </a:lnTo>
                  <a:cubicBezTo>
                    <a:pt x="57437" y="1038079"/>
                    <a:pt x="37554" y="1029843"/>
                    <a:pt x="22895" y="1015184"/>
                  </a:cubicBezTo>
                  <a:cubicBezTo>
                    <a:pt x="8236" y="1000525"/>
                    <a:pt x="0" y="980642"/>
                    <a:pt x="0" y="959910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330333" cy="1085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977833" y="5477403"/>
            <a:ext cx="1152843" cy="749348"/>
          </a:xfrm>
          <a:custGeom>
            <a:avLst/>
            <a:gdLst/>
            <a:ahLst/>
            <a:cxnLst/>
            <a:rect l="l" t="t" r="r" b="b"/>
            <a:pathLst>
              <a:path w="1152843" h="749348">
                <a:moveTo>
                  <a:pt x="0" y="0"/>
                </a:moveTo>
                <a:lnTo>
                  <a:pt x="1152843" y="0"/>
                </a:lnTo>
                <a:lnTo>
                  <a:pt x="1152843" y="749348"/>
                </a:lnTo>
                <a:lnTo>
                  <a:pt x="0" y="7493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8740549" y="5389288"/>
            <a:ext cx="656734" cy="1018192"/>
          </a:xfrm>
          <a:custGeom>
            <a:avLst/>
            <a:gdLst/>
            <a:ahLst/>
            <a:cxnLst/>
            <a:rect l="l" t="t" r="r" b="b"/>
            <a:pathLst>
              <a:path w="656734" h="1018192">
                <a:moveTo>
                  <a:pt x="0" y="0"/>
                </a:moveTo>
                <a:lnTo>
                  <a:pt x="656734" y="0"/>
                </a:lnTo>
                <a:lnTo>
                  <a:pt x="656734" y="1018192"/>
                </a:lnTo>
                <a:lnTo>
                  <a:pt x="0" y="1018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212555" y="5406459"/>
            <a:ext cx="1042381" cy="891236"/>
          </a:xfrm>
          <a:custGeom>
            <a:avLst/>
            <a:gdLst/>
            <a:ahLst/>
            <a:cxnLst/>
            <a:rect l="l" t="t" r="r" b="b"/>
            <a:pathLst>
              <a:path w="1042381" h="891236">
                <a:moveTo>
                  <a:pt x="0" y="0"/>
                </a:moveTo>
                <a:lnTo>
                  <a:pt x="1042382" y="0"/>
                </a:lnTo>
                <a:lnTo>
                  <a:pt x="1042382" y="891236"/>
                </a:lnTo>
                <a:lnTo>
                  <a:pt x="0" y="8912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15118" y="1903475"/>
            <a:ext cx="14889403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Energy vs. Power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0" y="1324355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HARDWARE TRADE-OFFS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38623" y="6397742"/>
            <a:ext cx="4366477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Peak Power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84246" y="7107013"/>
            <a:ext cx="4366477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Increases during operation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94565" y="6397742"/>
            <a:ext cx="4366477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Energy Per Op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60761" y="7106554"/>
            <a:ext cx="4366477" cy="97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Collapses by orders of magnitude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88708" y="6433214"/>
            <a:ext cx="4366477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Silicon Area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0507" y="7106554"/>
            <a:ext cx="4366477" cy="97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Minimal cost for high impact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377651"/>
            <a:ext cx="10548517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The Amdahl Reality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72890" y="4609689"/>
            <a:ext cx="7971110" cy="180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Zero mismatches across 89,837 operations.</a:t>
            </a:r>
          </a:p>
          <a:p>
            <a:pPr algn="l">
              <a:lnSpc>
                <a:spcPts val="2660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Accelerating a stage 1,294x yields a modest global limit.</a:t>
            </a:r>
          </a:p>
        </p:txBody>
      </p:sp>
      <p:sp>
        <p:nvSpPr>
          <p:cNvPr id="5" name="AutoShape 5"/>
          <p:cNvSpPr/>
          <p:nvPr/>
        </p:nvSpPr>
        <p:spPr>
          <a:xfrm flipH="1" flipV="1">
            <a:off x="9163050" y="2668177"/>
            <a:ext cx="19050" cy="6357242"/>
          </a:xfrm>
          <a:prstGeom prst="line">
            <a:avLst/>
          </a:prstGeom>
          <a:ln w="38100" cap="flat">
            <a:solidFill>
              <a:srgbClr val="FFFFFF">
                <a:alpha val="3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175418" y="2953870"/>
            <a:ext cx="6710456" cy="198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67"/>
              </a:lnSpc>
            </a:pPr>
            <a:r>
              <a:rPr lang="en-US" sz="14967" b="1" spc="-5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1,294x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96184" y="4886592"/>
            <a:ext cx="5789690" cy="4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MTF Stage Speedup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75418" y="6203655"/>
            <a:ext cx="6710456" cy="1989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67"/>
              </a:lnSpc>
            </a:pPr>
            <a:r>
              <a:rPr lang="en-US" sz="14967" b="1" spc="-5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1.23x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96184" y="8136376"/>
            <a:ext cx="5789690" cy="4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Global Benchmark Limit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3149480"/>
            <a:ext cx="5051108" cy="6610825"/>
            <a:chOff x="0" y="0"/>
            <a:chExt cx="1330333" cy="1741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0333" cy="1741123"/>
            </a:xfrm>
            <a:custGeom>
              <a:avLst/>
              <a:gdLst/>
              <a:ahLst/>
              <a:cxnLst/>
              <a:rect l="l" t="t" r="r" b="b"/>
              <a:pathLst>
                <a:path w="1330333" h="1741123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1662954"/>
                  </a:lnTo>
                  <a:cubicBezTo>
                    <a:pt x="1330333" y="1706125"/>
                    <a:pt x="1295336" y="1741123"/>
                    <a:pt x="1252164" y="1741123"/>
                  </a:cubicBezTo>
                  <a:lnTo>
                    <a:pt x="78169" y="1741123"/>
                  </a:lnTo>
                  <a:cubicBezTo>
                    <a:pt x="34997" y="1741123"/>
                    <a:pt x="0" y="1706125"/>
                    <a:pt x="0" y="1662954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30333" cy="1788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5576" y="1308862"/>
            <a:ext cx="14889403" cy="18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The Value of Profiling</a:t>
            </a:r>
          </a:p>
          <a:p>
            <a:pPr algn="l">
              <a:lnSpc>
                <a:spcPts val="7200"/>
              </a:lnSpc>
            </a:pPr>
            <a:endParaRPr lang="en-US" sz="7200" b="1" spc="-266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279542" y="729742"/>
            <a:ext cx="60564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PROJECT CONCLUSIONS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015" y="3395964"/>
            <a:ext cx="4366477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nbody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015" y="3981652"/>
            <a:ext cx="4366477" cy="59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Only 11.1% of runtime is the arithmetic the algorithm requires.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539 interpreter instructions per float operation vs. 3.66 in C.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Opt3 proved removing interpretation yields 125x speedup.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6524156" y="2997907"/>
            <a:ext cx="5051108" cy="6610825"/>
            <a:chOff x="0" y="0"/>
            <a:chExt cx="1330333" cy="17411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0333" cy="1741123"/>
            </a:xfrm>
            <a:custGeom>
              <a:avLst/>
              <a:gdLst/>
              <a:ahLst/>
              <a:cxnLst/>
              <a:rect l="l" t="t" r="r" b="b"/>
              <a:pathLst>
                <a:path w="1330333" h="1741123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1662954"/>
                  </a:lnTo>
                  <a:cubicBezTo>
                    <a:pt x="1330333" y="1706125"/>
                    <a:pt x="1295336" y="1741123"/>
                    <a:pt x="1252164" y="1741123"/>
                  </a:cubicBezTo>
                  <a:lnTo>
                    <a:pt x="78169" y="1741123"/>
                  </a:lnTo>
                  <a:cubicBezTo>
                    <a:pt x="34997" y="1741123"/>
                    <a:pt x="0" y="1706125"/>
                    <a:pt x="0" y="1662954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30333" cy="1788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866471" y="3244392"/>
            <a:ext cx="4366477" cy="53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pyflate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66471" y="3830079"/>
            <a:ext cx="4366477" cy="59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A data-movement workload (35x nbody's LLC miss rate).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MTF stage costs ≈21,400 instructions to move one byte.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Opt2 showed removing an interpreted search loop beat dictionary speedups.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2022939" y="2846335"/>
            <a:ext cx="5051108" cy="6610825"/>
            <a:chOff x="0" y="0"/>
            <a:chExt cx="1330333" cy="174112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30333" cy="1741123"/>
            </a:xfrm>
            <a:custGeom>
              <a:avLst/>
              <a:gdLst/>
              <a:ahLst/>
              <a:cxnLst/>
              <a:rect l="l" t="t" r="r" b="b"/>
              <a:pathLst>
                <a:path w="1330333" h="1741123">
                  <a:moveTo>
                    <a:pt x="78169" y="0"/>
                  </a:moveTo>
                  <a:lnTo>
                    <a:pt x="1252164" y="0"/>
                  </a:lnTo>
                  <a:cubicBezTo>
                    <a:pt x="1295336" y="0"/>
                    <a:pt x="1330333" y="34997"/>
                    <a:pt x="1330333" y="78169"/>
                  </a:cubicBezTo>
                  <a:lnTo>
                    <a:pt x="1330333" y="1662954"/>
                  </a:lnTo>
                  <a:cubicBezTo>
                    <a:pt x="1330333" y="1706125"/>
                    <a:pt x="1295336" y="1741123"/>
                    <a:pt x="1252164" y="1741123"/>
                  </a:cubicBezTo>
                  <a:lnTo>
                    <a:pt x="78169" y="1741123"/>
                  </a:lnTo>
                  <a:cubicBezTo>
                    <a:pt x="34997" y="1741123"/>
                    <a:pt x="0" y="1706125"/>
                    <a:pt x="0" y="1662954"/>
                  </a:cubicBezTo>
                  <a:lnTo>
                    <a:pt x="0" y="78169"/>
                  </a:lnTo>
                  <a:cubicBezTo>
                    <a:pt x="0" y="34997"/>
                    <a:pt x="34997" y="0"/>
                    <a:pt x="78169" y="0"/>
                  </a:cubicBezTo>
                  <a:close/>
                </a:path>
              </a:pathLst>
            </a:custGeom>
            <a:solidFill>
              <a:srgbClr val="03172D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330333" cy="1788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365254" y="3092819"/>
            <a:ext cx="4366477" cy="10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The HW/SW Lesson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D9D9D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365254" y="3876634"/>
            <a:ext cx="4366477" cy="444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An accelerator making its target 1,294x faster only speeds up pyflate by 1.23x.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The useful result is not just target speed, but how much total runtime it removes.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D9D9D9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114860"/>
            <a:ext cx="13303790" cy="270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sz="20266" b="1" spc="-749">
                <a:solidFill>
                  <a:srgbClr val="D9D9D9"/>
                </a:solidFill>
                <a:latin typeface="Aileron Bold"/>
                <a:ea typeface="Aileron Bold"/>
                <a:cs typeface="Aileron Bold"/>
                <a:sym typeface="Aileron Bold"/>
              </a:rPr>
              <a:t>Big Thanks!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0917" y="7802280"/>
            <a:ext cx="3490028" cy="655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D9D9D9"/>
                </a:solidFill>
                <a:latin typeface="Aileron"/>
                <a:ea typeface="Aileron"/>
                <a:cs typeface="Aileron"/>
                <a:sym typeface="Aileron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868</Words>
  <Application>Microsoft Office PowerPoint</Application>
  <PresentationFormat>מותאם אישית</PresentationFormat>
  <Paragraphs>253</Paragraphs>
  <Slides>29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29</vt:i4>
      </vt:variant>
    </vt:vector>
  </HeadingPairs>
  <TitlesOfParts>
    <vt:vector size="35" baseType="lpstr">
      <vt:lpstr>Arial</vt:lpstr>
      <vt:lpstr>Aileron</vt:lpstr>
      <vt:lpstr>DM Sans Bold</vt:lpstr>
      <vt:lpstr>Calibri</vt:lpstr>
      <vt:lpstr>Aileron Bold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Business Pitch Deck Presentation</dc:title>
  <dc:creator>almog as</dc:creator>
  <cp:lastModifiedBy>almog as</cp:lastModifiedBy>
  <cp:revision>2</cp:revision>
  <dcterms:created xsi:type="dcterms:W3CDTF">2006-08-16T00:00:00Z</dcterms:created>
  <dcterms:modified xsi:type="dcterms:W3CDTF">2026-09-25T16:32:55Z</dcterms:modified>
  <dc:identifier>DAHWNLhT6v8</dc:identifier>
</cp:coreProperties>
</file>